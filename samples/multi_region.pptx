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Europe</c:v>
                </c:pt>
                <c:pt idx="1">
                  <c:v>North America</c:v>
                </c:pt>
                <c:pt idx="2">
                  <c:v>Asia</c:v>
                </c:pt>
                <c:pt idx="3">
                  <c:v>South America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8827.4</c:v>
                </c:pt>
                <c:pt idx="1">
                  <c:v>4350.25</c:v>
                </c:pt>
                <c:pt idx="2">
                  <c:v>2863.0</c:v>
                </c:pt>
                <c:pt idx="3">
                  <c:v>2156.25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>
              <a:solidFill>
                <a:srgbClr val="3D3D5C"/>
              </a:solidFill>
            </a:ln>
          </c:spPr>
          <c:cat>
            <c:strRef>
              <c:f>Sheet1!$A$2:$A$10</c:f>
              <c:strCache>
                <c:ptCount val="9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  <c:pt idx="6">
                  <c:v>2026-07</c:v>
                </c:pt>
                <c:pt idx="7">
                  <c:v>2026-08</c:v>
                </c:pt>
                <c:pt idx="8">
                  <c:v>2026-09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839.1</c:v>
                </c:pt>
                <c:pt idx="1">
                  <c:v>1792.0</c:v>
                </c:pt>
                <c:pt idx="2">
                  <c:v>1700.0</c:v>
                </c:pt>
                <c:pt idx="3">
                  <c:v>2188.75</c:v>
                </c:pt>
                <c:pt idx="4">
                  <c:v>940.5</c:v>
                </c:pt>
                <c:pt idx="5">
                  <c:v>1891.0</c:v>
                </c:pt>
                <c:pt idx="6">
                  <c:v>3750.0</c:v>
                </c:pt>
                <c:pt idx="7">
                  <c:v>1756.25</c:v>
                </c:pt>
                <c:pt idx="8">
                  <c:v>3339.3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Beta Ltd</c:v>
                </c:pt>
                <c:pt idx="1">
                  <c:v>Iota Ltd</c:v>
                </c:pt>
                <c:pt idx="2">
                  <c:v>Theta Pty</c:v>
                </c:pt>
                <c:pt idx="3">
                  <c:v>Eta Corp</c:v>
                </c:pt>
                <c:pt idx="4">
                  <c:v>Zeta GmbH</c:v>
                </c:pt>
                <c:pt idx="5">
                  <c:v>Gamma Inc</c:v>
                </c:pt>
                <c:pt idx="6">
                  <c:v>Acme Corp</c:v>
                </c:pt>
                <c:pt idx="7">
                  <c:v>Epsilon SA</c:v>
                </c:pt>
                <c:pt idx="8">
                  <c:v>Kappa SRL</c:v>
                </c:pt>
                <c:pt idx="9">
                  <c:v>Delta LLC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539.1</c:v>
                </c:pt>
                <c:pt idx="1">
                  <c:v>742.5</c:v>
                </c:pt>
                <c:pt idx="2">
                  <c:v>1218.0</c:v>
                </c:pt>
                <c:pt idx="3">
                  <c:v>1464.75</c:v>
                </c:pt>
                <c:pt idx="4">
                  <c:v>1543.3</c:v>
                </c:pt>
                <c:pt idx="5">
                  <c:v>1645.0</c:v>
                </c:pt>
                <c:pt idx="6">
                  <c:v>2143.0</c:v>
                </c:pt>
                <c:pt idx="7">
                  <c:v>2156.25</c:v>
                </c:pt>
                <c:pt idx="8">
                  <c:v>2745.0</c:v>
                </c:pt>
                <c:pt idx="9">
                  <c:v>4000.0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Electronics</c:v>
                </c:pt>
                <c:pt idx="1">
                  <c:v>Hardware</c:v>
                </c:pt>
                <c:pt idx="2">
                  <c:v>Accessories</c:v>
                </c:pt>
                <c:pt idx="3">
                  <c:v>Services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5609.75</c:v>
                </c:pt>
                <c:pt idx="1">
                  <c:v>5218.75</c:v>
                </c:pt>
                <c:pt idx="2">
                  <c:v>4270.0</c:v>
                </c:pt>
                <c:pt idx="3">
                  <c:v>3098.4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Accessories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3150.0</c:v>
                </c:pt>
                <c:pt idx="1">
                  <c:v>0.0</c:v>
                </c:pt>
                <c:pt idx="2">
                  <c:v>1120.0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Electronics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646.0</c:v>
                </c:pt>
                <c:pt idx="1">
                  <c:v>3176.25</c:v>
                </c:pt>
                <c:pt idx="2">
                  <c:v>1787.5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Hardware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4168.75</c:v>
                </c:pt>
                <c:pt idx="1">
                  <c:v>450.0</c:v>
                </c:pt>
                <c:pt idx="2">
                  <c:v>600.0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Services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2388.0</c:v>
                </c:pt>
                <c:pt idx="1">
                  <c:v>287.1</c:v>
                </c:pt>
                <c:pt idx="2">
                  <c:v>423.3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Shipped</c:v>
                </c:pt>
                <c:pt idx="1">
                  <c:v>Delivered</c:v>
                </c:pt>
                <c:pt idx="2">
                  <c:v>Pending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9.0</c:v>
                </c:pt>
                <c:pt idx="1">
                  <c:v>7.0</c:v>
                </c:pt>
                <c:pt idx="2">
                  <c:v>4.0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Customer Performance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Multi-region  |  2026-01 .. 2026-09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DCDCDC"/>
                </a:solidFill>
              </a:defRPr>
            </a:pPr>
            <a:r>
              <a:t>Generated 2026-10-13 15:52 UTC from Unity Catalog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Performance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B7A"/>
                </a:solidFill>
              </a:defRPr>
            </a:pPr>
            <a:r>
              <a:t>Multi-region  |  10 customers  |  2026-01 .. 2026-09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51760" cy="1645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B7A"/>
                </a:solidFill>
              </a:defRPr>
            </a:pPr>
            <a:r>
              <a:t>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D3D5C"/>
                </a:solidFill>
              </a:defRPr>
            </a:pPr>
            <a:r>
              <a:t>$18,197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645920"/>
            <a:ext cx="2651760" cy="1645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B7A"/>
                </a:solidFill>
              </a:defRPr>
            </a:pPr>
            <a:r>
              <a:t>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377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D3D5C"/>
                </a:solidFill>
              </a:defRPr>
            </a:pPr>
            <a:r>
              <a:t>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2651760" cy="1645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B7A"/>
                </a:solidFill>
              </a:defRPr>
            </a:pPr>
            <a:r>
              <a:t>Avg order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377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D3D5C"/>
                </a:solidFill>
              </a:defRPr>
            </a:pPr>
            <a:r>
              <a:t>$910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1645920"/>
            <a:ext cx="2651760" cy="1645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B7A"/>
                </a:solidFill>
              </a:defRPr>
            </a:pPr>
            <a:r>
              <a:t>Avg discount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377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D3D5C"/>
                </a:solidFill>
              </a:defRPr>
            </a:pPr>
            <a:r>
              <a:t>5.0%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Top customer: Delta LLC ($4,000, 22% of revenue)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4 of 20 orders still pending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Revenue by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B7A"/>
                </a:solidFill>
              </a:defRPr>
            </a:pPr>
            <a:r>
              <a:t>Multi-region  |  10 customers  |  2026-01 .. 2026-09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Monthly Revenue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B7A"/>
                </a:solidFill>
              </a:defRPr>
            </a:pPr>
            <a:r>
              <a:t>Multi-region  |  10 customers  |  2026-01 .. 2026-09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Top Customers by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B7A"/>
                </a:solidFill>
              </a:defRPr>
            </a:pPr>
            <a:r>
              <a:t>Multi-region  |  10 customers  |  2026-01 .. 2026-09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Revenue Mix by Product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B7A"/>
                </a:solidFill>
              </a:defRPr>
            </a:pPr>
            <a:r>
              <a:t>Multi-region  |  10 customers  |  2026-01 .. 2026-09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82880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Share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Electronics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$5,610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$5,219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Accessories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$4,270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$3,098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Revenue by Customer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B7A"/>
                </a:solidFill>
              </a:defRPr>
            </a:pPr>
            <a:r>
              <a:t>Multi-region  |  10 customers  |  2026-01 .. 2026-09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Order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B7A"/>
                </a:solidFill>
              </a:defRPr>
            </a:pPr>
            <a:r>
              <a:t>Multi-region  |  10 customers  |  2026-01 .. 2026-09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64008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Order Detail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B7A"/>
                </a:solidFill>
              </a:defRPr>
            </a:pPr>
            <a:r>
              <a:t>Multi-region  |  10 customers  |  2026-01 .. 2026-09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Revenue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2026-09-28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Theta 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Gadget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Shipped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$1,020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2026-09-20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Kappa SRL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Widget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Delivered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$1,500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2026-09-12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Zeta GmbH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Service Plan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$423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2026-09-01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Eta Corp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Service Plan 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Shipped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$396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2026-08-25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Epsilon 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Gadget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Delivered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$1,306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2026-08-08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Beta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Widget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Shipped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$450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2026-07-19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Delta LLC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Accessory 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$3,150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2026-07-03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Gamma Inc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Widget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Delivered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$600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2026-06-15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Acme Corp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Gadget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Shipped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$646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2026-06-01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Kappa SRL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Service Plan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Delivered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$1,245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2026-05-20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Iota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Gadget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Shipped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$742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2026-05-02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Theta 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Service Plan 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$198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Order Detail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B7A"/>
                </a:solidFill>
              </a:defRPr>
            </a:pPr>
            <a:r>
              <a:t>Multi-region  |  10 customers  |  2026-01 .. 2026-09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Revenue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2026-04-18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Eta Corp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Widget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Delivered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$1,069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2026-04-05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Zeta GmbH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Accessory 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Shipped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$1,120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2026-03-10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Epsilon 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Gadget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Delivered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$850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2026-03-01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Delta LLC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Widget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$850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2026-02-14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Acme Corp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Service Plan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Shipped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$747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2026-02-03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Gamma Inc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Gadget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Delivered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$1,045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2026-01-22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Beta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Service Plan 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Shipped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$89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2026-01-15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Acme Corp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Widget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Shipped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$750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