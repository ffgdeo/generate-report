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Europe</c:v>
                </c:pt>
                <c:pt idx="1">
                  <c:v>South America</c:v>
                </c:pt>
                <c:pt idx="2">
                  <c:v>Asia</c:v>
                </c:pt>
                <c:pt idx="3">
                  <c:v>North America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1950.0</c:v>
                </c:pt>
                <c:pt idx="1">
                  <c:v>1306.25</c:v>
                </c:pt>
                <c:pt idx="2">
                  <c:v>1020.0</c:v>
                </c:pt>
                <c:pt idx="3">
                  <c:v>396.0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numFmt formatCode="$#,##0" sourceLinked="0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ln>
              <a:solidFill>
                <a:srgbClr val="3D3D5C"/>
              </a:solidFill>
            </a:ln>
          </c:spPr>
          <c:cat>
            <c:strRef>
              <c:f>Sheet1!$A$2:$A$3</c:f>
              <c:strCache>
                <c:ptCount val="2"/>
                <c:pt idx="0">
                  <c:v>2026-08</c:v>
                </c:pt>
                <c:pt idx="1">
                  <c:v>2026-09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1756.25</c:v>
                </c:pt>
                <c:pt idx="1">
                  <c:v>2916.0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numFmt formatCode="$#,##0" sourceLinked="0"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Eta Corp</c:v>
                </c:pt>
                <c:pt idx="1">
                  <c:v>Beta Ltd</c:v>
                </c:pt>
                <c:pt idx="2">
                  <c:v>Theta Pty</c:v>
                </c:pt>
                <c:pt idx="3">
                  <c:v>Epsilon SA</c:v>
                </c:pt>
                <c:pt idx="4">
                  <c:v>Kappa SRL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396.0</c:v>
                </c:pt>
                <c:pt idx="1">
                  <c:v>450.0</c:v>
                </c:pt>
                <c:pt idx="2">
                  <c:v>1020.0</c:v>
                </c:pt>
                <c:pt idx="3">
                  <c:v>1306.25</c:v>
                </c:pt>
                <c:pt idx="4">
                  <c:v>1500.0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0E0E0"/>
              </a:solidFill>
            </a:ln>
          </c:spPr>
        </c:majorGridlines>
        <c:numFmt formatCode="$#,##0" sourceLinked="0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Electronics</c:v>
                </c:pt>
                <c:pt idx="1">
                  <c:v>Hardware</c:v>
                </c:pt>
                <c:pt idx="2">
                  <c:v>Services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2326.25</c:v>
                </c:pt>
                <c:pt idx="1">
                  <c:v>1950.0</c:v>
                </c:pt>
                <c:pt idx="2">
                  <c:v>396.0</c:v>
                </c:pt>
              </c:numCache>
            </c:numRef>
          </c:val>
        </c:ser>
      </c:pieChart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Electronics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Enterprise</c:v>
                </c:pt>
                <c:pt idx="1">
                  <c:v>Mid-Market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</c:v>
                </c:pt>
                <c:pt idx="1">
                  <c:v>2326.25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Hardware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Enterprise</c:v>
                </c:pt>
                <c:pt idx="1">
                  <c:v>Mid-Market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1500.0</c:v>
                </c:pt>
                <c:pt idx="1">
                  <c:v>450.0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Services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Enterprise</c:v>
                </c:pt>
                <c:pt idx="1">
                  <c:v>Mid-Market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396.0</c:v>
                </c:pt>
                <c:pt idx="1">
                  <c:v>0.0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numFmt formatCode="$#,##0" sourceLinked="0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Shipped</c:v>
                </c:pt>
                <c:pt idx="1">
                  <c:v>Delivered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3.0</c:v>
                </c:pt>
                <c:pt idx="1">
                  <c:v>2.0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Customer Performance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83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FFFFFF"/>
                </a:solidFill>
              </a:defRPr>
            </a:pPr>
            <a:r>
              <a:t>Multi-region  |  2026-08, 2026-09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DCDCDC"/>
                </a:solidFill>
              </a:defRPr>
            </a:pPr>
            <a:r>
              <a:t>Generated 2026-10-13 15:58 UTC from Unity Catalog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Performance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F6B7A"/>
                </a:solidFill>
              </a:defRPr>
            </a:pPr>
            <a:r>
              <a:t>Multi-region  |  5 customers  |  2026-08, 2026-09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2651760" cy="164592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F6B7A"/>
                </a:solidFill>
              </a:defRPr>
            </a:pPr>
            <a:r>
              <a:t>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D3D5C"/>
                </a:solidFill>
              </a:defRPr>
            </a:pPr>
            <a:r>
              <a:t>$4,672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645920"/>
            <a:ext cx="2651760" cy="164592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18288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F6B7A"/>
                </a:solidFill>
              </a:defRPr>
            </a:pPr>
            <a:r>
              <a:t>Orders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23774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D3D5C"/>
                </a:solidFill>
              </a:defRPr>
            </a:pPr>
            <a:r>
              <a:t>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2651760" cy="164592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8288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F6B7A"/>
                </a:solidFill>
              </a:defRPr>
            </a:pPr>
            <a:r>
              <a:t>Avg order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3774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D3D5C"/>
                </a:solidFill>
              </a:defRPr>
            </a:pPr>
            <a:r>
              <a:t>$934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98280" y="1645920"/>
            <a:ext cx="2651760" cy="164592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18288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F6B7A"/>
                </a:solidFill>
              </a:defRPr>
            </a:pPr>
            <a:r>
              <a:t>Avg discount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23774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D3D5C"/>
                </a:solidFill>
              </a:defRPr>
            </a:pPr>
            <a:r>
              <a:t>1.0%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840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/>
            </a:pPr>
            <a:r>
              <a:t>Top customer: Kappa SRL ($1,500, 32% of revenue)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389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/>
            </a:pPr>
            <a:r>
              <a:t>0 of 5 orders still pending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Revenue by Region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F6B7A"/>
                </a:solidFill>
              </a:defRPr>
            </a:pPr>
            <a:r>
              <a:t>Multi-region  |  5 customers  |  2026-08, 2026-09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71600"/>
          <a:ext cx="112471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Monthly Revenue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F6B7A"/>
                </a:solidFill>
              </a:defRPr>
            </a:pPr>
            <a:r>
              <a:t>Multi-region  |  5 customers  |  2026-08, 2026-09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71600"/>
          <a:ext cx="112471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Top Customers by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F6B7A"/>
                </a:solidFill>
              </a:defRPr>
            </a:pPr>
            <a:r>
              <a:t>Multi-region  |  5 customers  |  2026-08, 2026-09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71600"/>
          <a:ext cx="112471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Revenue Mix by Product Category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F6B7A"/>
                </a:solidFill>
              </a:defRPr>
            </a:pPr>
            <a:r>
              <a:t>Multi-region  |  5 customers  |  2026-08, 2026-09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71600"/>
          <a:ext cx="54864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1828800"/>
          <a:ext cx="53035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Share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Electronics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$2,326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50%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Hardware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$1,950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42%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$396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Revenue by Customer Segment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F6B7A"/>
                </a:solidFill>
              </a:defRPr>
            </a:pPr>
            <a:r>
              <a:t>Multi-region  |  5 customers  |  2026-08, 2026-09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71600"/>
          <a:ext cx="112471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Order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F6B7A"/>
                </a:solidFill>
              </a:defRPr>
            </a:pPr>
            <a:r>
              <a:t>Multi-region  |  5 customers  |  2026-08, 2026-09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71600"/>
          <a:ext cx="64008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Order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F6B7A"/>
                </a:solidFill>
              </a:defRPr>
            </a:pPr>
            <a:r>
              <a:t>Multi-region  |  5 customers  |  2026-08, 2026-09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6731"/>
                <a:gridCol w="1606731"/>
                <a:gridCol w="1606731"/>
                <a:gridCol w="1606731"/>
                <a:gridCol w="1606731"/>
                <a:gridCol w="1606731"/>
                <a:gridCol w="1606734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Customer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Qty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Revenue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2026-09-28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Theta Pty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Gadget 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Shipped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$1,020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2026-09-20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Kappa SRL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Widget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Delivered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$1,500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2026-09-01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Eta Corp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Service Plan Basic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Shipped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$396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2026-08-25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Epsilon 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Gadget 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Delivered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$1,306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2026-08-08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Beta Ltd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Widget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Shipped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$450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