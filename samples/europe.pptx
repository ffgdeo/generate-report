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>
              <a:solidFill>
                <a:srgbClr val="2E6F40"/>
              </a:solidFill>
            </a:ln>
          </c:spPr>
          <c:cat>
            <c:strRef>
              <c:f>Sheet1!$A$2:$A$8</c:f>
              <c:strCache>
                <c:ptCount val="7"/>
                <c:pt idx="0">
                  <c:v>2026-01</c:v>
                </c:pt>
                <c:pt idx="1">
                  <c:v>2026-03</c:v>
                </c:pt>
                <c:pt idx="2">
                  <c:v>2026-04</c:v>
                </c:pt>
                <c:pt idx="3">
                  <c:v>2026-06</c:v>
                </c:pt>
                <c:pt idx="4">
                  <c:v>2026-07</c:v>
                </c:pt>
                <c:pt idx="5">
                  <c:v>2026-08</c:v>
                </c:pt>
                <c:pt idx="6">
                  <c:v>2026-09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89.10000000000001</c:v>
                </c:pt>
                <c:pt idx="1">
                  <c:v>850.0</c:v>
                </c:pt>
                <c:pt idx="2">
                  <c:v>1120.0</c:v>
                </c:pt>
                <c:pt idx="3">
                  <c:v>1245.0</c:v>
                </c:pt>
                <c:pt idx="4">
                  <c:v>3150.0</c:v>
                </c:pt>
                <c:pt idx="5">
                  <c:v>450.0</c:v>
                </c:pt>
                <c:pt idx="6">
                  <c:v>1923.3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Beta Ltd</c:v>
                </c:pt>
                <c:pt idx="1">
                  <c:v>Zeta GmbH</c:v>
                </c:pt>
                <c:pt idx="2">
                  <c:v>Kappa SRL</c:v>
                </c:pt>
                <c:pt idx="3">
                  <c:v>Delta LLC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539.1</c:v>
                </c:pt>
                <c:pt idx="1">
                  <c:v>1543.3</c:v>
                </c:pt>
                <c:pt idx="2">
                  <c:v>2745.0</c:v>
                </c:pt>
                <c:pt idx="3">
                  <c:v>4000.0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Accessories</c:v>
                </c:pt>
                <c:pt idx="1">
                  <c:v>Hardware</c:v>
                </c:pt>
                <c:pt idx="2">
                  <c:v>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4270.0</c:v>
                </c:pt>
                <c:pt idx="1">
                  <c:v>2800.0</c:v>
                </c:pt>
                <c:pt idx="2">
                  <c:v>1757.3999999999999</c:v>
                </c:pt>
              </c:numCache>
            </c:numRef>
          </c:val>
        </c:ser>
      </c:pieChart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Accessories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3150.0</c:v>
                </c:pt>
                <c:pt idx="1">
                  <c:v>0.0</c:v>
                </c:pt>
                <c:pt idx="2">
                  <c:v>1120.0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Hardware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2350.0</c:v>
                </c:pt>
                <c:pt idx="1">
                  <c:v>450.0</c:v>
                </c:pt>
                <c:pt idx="2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Services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1245.0</c:v>
                </c:pt>
                <c:pt idx="1">
                  <c:v>89.10000000000001</c:v>
                </c:pt>
                <c:pt idx="2">
                  <c:v>423.3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numFmt formatCode="$#,##0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Customer Performance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383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FFFFF"/>
                </a:solidFill>
              </a:defRPr>
            </a:pPr>
            <a:r>
              <a:t>Europe  |  2026-01 .. 2026-09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DCDCDC"/>
                </a:solidFill>
              </a:defRPr>
            </a:pPr>
            <a:r>
              <a:t>Generated 2026-10-13 15:52 UTC from Unity Catalog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Performance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Europe  |  4 customers  |  2026-01 .. 2026-09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Revenue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6F40"/>
                </a:solidFill>
              </a:defRPr>
            </a:pPr>
            <a:r>
              <a:t>$8,827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Orders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6F40"/>
                </a:solidFill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Avg order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6F40"/>
                </a:solidFill>
              </a:defRPr>
            </a:pPr>
            <a:r>
              <a:t>$1,103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645920"/>
            <a:ext cx="2651760" cy="16459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8288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F6B7A"/>
                </a:solidFill>
              </a:defRPr>
            </a:pPr>
            <a:r>
              <a:t>Avg discount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3774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E6F40"/>
                </a:solidFill>
              </a:defRPr>
            </a:pPr>
            <a:r>
              <a:t>8.8%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Top customer: Delta LLC ($4,000, 45% of revenue)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/>
            </a:pPr>
            <a:r>
              <a:t>3 of 8 orders still pending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Monthly Revenue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Europe  |  4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Top Customers by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Europe  |  4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Mix by Product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Europe  |  4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5486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828800"/>
          <a:ext cx="53035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Accessories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$4,270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48%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Hardware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$2,800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32%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$1,757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Revenue by Customer Segment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Europe  |  4 customers  |  2026-01 .. 2026-09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71600"/>
          <a:ext cx="1124712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E6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Order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B7A"/>
                </a:solidFill>
              </a:defRPr>
            </a:pPr>
            <a:r>
              <a:t>Europe  |  4 customers  |  2026-01 .. 2026-09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731"/>
                <a:gridCol w="1606731"/>
                <a:gridCol w="1606731"/>
                <a:gridCol w="1606731"/>
                <a:gridCol w="1606731"/>
                <a:gridCol w="1606731"/>
                <a:gridCol w="1606734"/>
              </a:tblGrid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Customer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Revenue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Kappa SRL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$1,500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2026-09-12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Zeta GmbH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2026-08-08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Beta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$450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2026-07-19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Delta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Accessory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$3,150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2026-06-01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Kappa SRL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$1,245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2026-04-05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Zeta GmbH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Accessory 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$1,120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2026-03-01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Delta LLC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Widget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$850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2026-01-22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Beta Ltd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Service Plan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$89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